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38379dfc59e4275" Type="http://schemas.openxmlformats.org/officeDocument/2006/relationships/extended-properties" Target="docProps/app.xml"/><Relationship Id="Rc6ecd633c6474778" Type="http://schemas.openxmlformats.org/package/2006/relationships/metadata/core-properties" Target="docProps/core.xml"/><Relationship Id="Rcaf612846a2141f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a16d4102b4bc5"/>
  </p:sldMasterIdLst>
  <p:notesMasterIdLst>
    <p:notesMasterId xmlns:r="http://schemas.openxmlformats.org/officeDocument/2006/relationships" r:id="Ra47905004cce48ae"/>
  </p:notesMasterIdLst>
  <p:sldIdLst>
    <p:sldId xmlns:r="http://schemas.openxmlformats.org/officeDocument/2006/relationships" id="256" r:id="R61375a93d42f4c8b"/>
    <p:sldId xmlns:r="http://schemas.openxmlformats.org/officeDocument/2006/relationships" id="257" r:id="R7b3d11201ca449ea"/>
    <p:sldId xmlns:r="http://schemas.openxmlformats.org/officeDocument/2006/relationships" id="258" r:id="R7afda1740e02452a"/>
    <p:sldId xmlns:r="http://schemas.openxmlformats.org/officeDocument/2006/relationships" id="259" r:id="R76ee0023b217466e"/>
    <p:sldId xmlns:r="http://schemas.openxmlformats.org/officeDocument/2006/relationships" id="260" r:id="R37da0b10b00a4dcb"/>
    <p:sldId xmlns:r="http://schemas.openxmlformats.org/officeDocument/2006/relationships" id="261" r:id="Rf2cbac2225414c80"/>
    <p:sldId xmlns:r="http://schemas.openxmlformats.org/officeDocument/2006/relationships" id="262" r:id="R9232fd8f624a4755"/>
    <p:sldId xmlns:r="http://schemas.openxmlformats.org/officeDocument/2006/relationships" id="263" r:id="R40fe671298b54057"/>
    <p:sldId xmlns:r="http://schemas.openxmlformats.org/officeDocument/2006/relationships" id="264" r:id="Rbac0d213b09f4b74"/>
    <p:sldId xmlns:r="http://schemas.openxmlformats.org/officeDocument/2006/relationships" id="265" r:id="R5d41b1c090e641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7da0b10b00a4dcb" Type="http://schemas.openxmlformats.org/officeDocument/2006/relationships/slide" Target="slides/slide5.xml"/><Relationship Id="R40fe671298b54057" Type="http://schemas.openxmlformats.org/officeDocument/2006/relationships/slide" Target="slides/slide8.xml"/><Relationship Id="R5d41b1c090e6418c" Type="http://schemas.openxmlformats.org/officeDocument/2006/relationships/slide" Target="slides/slide10.xml"/><Relationship Id="R61375a93d42f4c8b" Type="http://schemas.openxmlformats.org/officeDocument/2006/relationships/slide" Target="slides/slide1.xml"/><Relationship Id="R76ee0023b217466e" Type="http://schemas.openxmlformats.org/officeDocument/2006/relationships/slide" Target="slides/slide4.xml"/><Relationship Id="R7afda1740e02452a" Type="http://schemas.openxmlformats.org/officeDocument/2006/relationships/slide" Target="slides/slide3.xml"/><Relationship Id="R7b3d11201ca449ea" Type="http://schemas.openxmlformats.org/officeDocument/2006/relationships/slide" Target="slides/slide2.xml"/><Relationship Id="R8d451ee4bf634815" Type="http://schemas.openxmlformats.org/officeDocument/2006/relationships/theme" Target="theme/theme1.xml"/><Relationship Id="R902d6fbcf4064be7" Type="http://schemas.openxmlformats.org/officeDocument/2006/relationships/tableStyles" Target="tableStyles.xml"/><Relationship Id="R9232fd8f624a4755" Type="http://schemas.openxmlformats.org/officeDocument/2006/relationships/slide" Target="slides/slide7.xml"/><Relationship Id="R9da24ddd304b4b00" Type="http://schemas.openxmlformats.org/officeDocument/2006/relationships/presProps" Target="presProps.xml"/><Relationship Id="Ra47905004cce48ae" Type="http://schemas.openxmlformats.org/officeDocument/2006/relationships/notesMaster" Target="notesMasters/notesMaster1.xml"/><Relationship Id="Rac8a16d4102b4bc5" Type="http://schemas.openxmlformats.org/officeDocument/2006/relationships/slideMaster" Target="slideMasters/slideMaster1.xml"/><Relationship Id="Rbac0d213b09f4b74" Type="http://schemas.openxmlformats.org/officeDocument/2006/relationships/slide" Target="slides/slide9.xml"/><Relationship Id="Rf2cbac2225414c8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4ff2ce1cc699472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e5db2efb0624c16" Type="http://schemas.openxmlformats.org/officeDocument/2006/relationships/notesMaster" Target="../notesMasters/notesMaster1.xml"/><Relationship Id="R4f3ce23cc9b34d1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9a69797180b4015" Type="http://schemas.openxmlformats.org/officeDocument/2006/relationships/slide" Target="../slides/slide2.xml"/><Relationship Id="R686fc20c2981415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5dd5e7118204bbc" Type="http://schemas.openxmlformats.org/officeDocument/2006/relationships/slide" Target="../slides/slide3.xml"/><Relationship Id="Re25282b2406a44d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9aec33bcf584c0b" Type="http://schemas.openxmlformats.org/officeDocument/2006/relationships/slide" Target="../slides/slide4.xml"/><Relationship Id="R43c2ff906cdb42e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ab31f0fd20704859" Type="http://schemas.openxmlformats.org/officeDocument/2006/relationships/slide" Target="../slides/slide5.xml"/><Relationship Id="Racd297f09ca64c7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f170d324f944924" Type="http://schemas.openxmlformats.org/officeDocument/2006/relationships/slide" Target="../slides/slide6.xml"/><Relationship Id="R6845f4306faa4f8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a42171a7ffb14c9c" Type="http://schemas.openxmlformats.org/officeDocument/2006/relationships/slide" Target="../slides/slide7.xml"/><Relationship Id="Reee64b196f7141c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8bed461ced1749a2" Type="http://schemas.openxmlformats.org/officeDocument/2006/relationships/notesMaster" Target="../notesMasters/notesMaster1.xml"/><Relationship Id="Rb43f0d581d18413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bedc35597e84ed1" Type="http://schemas.openxmlformats.org/officeDocument/2006/relationships/slide" Target="../slides/slide9.xml"/><Relationship Id="R2dad1c00ed0d4f8d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271dae466594ab1" Type="http://schemas.openxmlformats.org/officeDocument/2006/relationships/slide" Target="../slides/slide10.xml"/><Relationship Id="R7d66ba64d6404f0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Presento la implementación técnica actual de Vet-Site. A diferencia de una presentación solo visual, explicaré fragmentos reales del código: el estado de la aplicación, los props de React, la validación, el carrito, el responsive y las pruebas.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estructura separa la interfaz de la lógica de negocio. App.jsx coordina estado y rutas hash; los componentes presentan funciones concretas y los módulos utils son funciones reutilizables. Las pruebas están separadas en test/unit.spec.jsx y se configuran en karma.conf.cjs.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hook useState guarda el carrito en el estado de React y lo inicializa con load(). useEffect responde a cambios y persiste el valor serializado en localStorage. El mismo patrón se usa para productos, usuarios y órdenes. Esto sobrevive recargas en ese navegador, pero no sincroniza otros dispositivos.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ProductCatalog recibe products y onAdd por props. Mantiene query y category como estado local porque solo afectan a los controles del catálogo. El arreglo visible aplica ambos filtros. Para cada producto crea un ProductCard y le entrega el producto y el callback.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isAllowedEmail normaliza mayúsculas y espacios; primero valida estructura de correo y luego revisa que termine en uno de los dominios permitidos. La validación del RUN implementa el cálculo del dígito verificador chileno. validateProduct comprueba código, nombre, precio, stock y código duplicado. Estas reglas se ejecutan en el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addItem usa find para saber si el artículo ya está en el carrito. Si existe, no permite superar availableStock y crea una copia actualizada del arreglo. Si no existe, inserta el producto con cantidad uno. La función es pura: recibe el estado anterior y devuelve el siguiente sin mutarlo.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catálogo usa row y col-12 col-sm-6 col-lg-4: una columna en móvil, dos desde el breakpoint sm y tres en lg. En styles.css hay una media query hasta 575 píxeles para ajustar la ilustración del hero y el padding del carrito. Para defender la implementación, mostrar el sitio y cambiar el ancho de la ventana.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imágenes son capturas que aportó el equipo: el formulario llenado y la tabla donde aparece ALI-003. Explicar el cambio clave: el estado editing existe en ambas operaciones, pero solo tiene id cuando se está editando un producto existente. Por eso se comprueba editing?.id; si no hay id se agrega al arreglo. La creación quedó demostrada por la fila ALI-003. La imagen del producto era opcional y se dejó vacía.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prueba crea un spy, renderiza ProductCard en un DOM aislado, hace clic y verifica que el callback reciba el producto. karma.conf.cjs configura jsdom, Jasmine, Babel y la instrumentación de Istanbul. La ejecución local del 20 de octubre de 2026 aprobó 29 specs y tuvo 0 fallidas. Istanbul reportó 84,50 % de statements, 79,56 % de branches, 85,52 % de functions y 90,64 % de lines para el bundle medido. Las pruebas nuevas cubren alta, validación, edición y eliminación de productos en AdminPanel, permisos y detalle de órdenes para Vendedor, y búsqueda del catálogo. La prueba de alta comprueba que el actualizador de estado añada el producto; no es una prueba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ingresar en #/admin con las credenciales locales de demostración admin@gmail.com / admin123. Crear un código nuevo, guardar y comprobar la fila. Luego abrir Tienda, buscar y añadir al carrito. Si el desarrollo local no está disponible, usar las capturas de la diapositiva 8. Al cerrar, explicar los límites: no hay backend, base de datos, pago real ni envío de contacto. Preguntas posibles: qué administra App.jsx; diferencia entre props y estado; qué verifica el spy; cómo se mantiene el carrito al recargar; qué falta probar.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bdd1904efcc450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ac63d60f1664ad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c0f45c6254b4339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c5fbd2fcf54422b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6e6d0dcd3439419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9d7cdb173984be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E08D3D-EECE-4F16-8C08-195887219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88CED2-17FC-4EFE-8534-7A36BF6C9F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636D93-D38A-4086-89C7-DB2CE73741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408DAC-7D8D-4F63-9575-7E4DBFC17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B3E667-27F5-440F-93BA-8189C4AF7F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7192EF-5F91-481D-BE22-37F14A6FE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100AAD-F03D-4B6E-8845-C81632EC4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ECF672-F582-4BF8-9436-D23B766CB8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6D8BA1-04C3-4418-941E-526BC3ACB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911F91-0C87-419F-AC6B-F847B8BD7E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03eadb1fa654c41" Type="http://schemas.openxmlformats.org/officeDocument/2006/relationships/slideLayout" Target="../slideLayouts/slideLayout3.xml"/><Relationship Id="R0959d063da3c41ef" Type="http://schemas.openxmlformats.org/officeDocument/2006/relationships/slideLayout" Target="../slideLayouts/slideLayout5.xml"/><Relationship Id="R15bb7ac00c154480" Type="http://schemas.openxmlformats.org/officeDocument/2006/relationships/slideLayout" Target="../slideLayouts/slideLayout1.xml"/><Relationship Id="R706a49a80dfa43fd" Type="http://schemas.openxmlformats.org/officeDocument/2006/relationships/slideLayout" Target="../slideLayouts/slideLayout6.xml"/><Relationship Id="Ra4ff2f3984ce4af7" Type="http://schemas.openxmlformats.org/officeDocument/2006/relationships/theme" Target="theme/theme2.xml"/><Relationship Id="Rd2d7414ffad94263" Type="http://schemas.openxmlformats.org/officeDocument/2006/relationships/slideLayout" Target="../slideLayouts/slideLayout2.xml"/><Relationship Id="Rdb814708332f4ffa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bb7ac00c154480"/>
    <p:sldLayoutId xmlns:r="http://schemas.openxmlformats.org/officeDocument/2006/relationships" id="2147483650" r:id="Rd2d7414ffad94263"/>
    <p:sldLayoutId xmlns:r="http://schemas.openxmlformats.org/officeDocument/2006/relationships" id="2147483651" r:id="R003eadb1fa654c41"/>
    <p:sldLayoutId xmlns:r="http://schemas.openxmlformats.org/officeDocument/2006/relationships" id="2147483652" r:id="Rdb814708332f4ffa"/>
    <p:sldLayoutId xmlns:r="http://schemas.openxmlformats.org/officeDocument/2006/relationships" id="2147483653" r:id="R0959d063da3c41ef"/>
    <p:sldLayoutId xmlns:r="http://schemas.openxmlformats.org/officeDocument/2006/relationships" id="2147483654" r:id="R706a49a80dfa43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e9199e0d20b404f" Type="http://schemas.openxmlformats.org/officeDocument/2006/relationships/slideLayout" Target="../slideLayouts/slideLayout6.xml"/><Relationship Id="R920696bf0b774db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412e1e827444590" Type="http://schemas.openxmlformats.org/officeDocument/2006/relationships/notesSlide" Target="../notesSlides/notesSlide2.xml"/><Relationship Id="R87bd918f9617433a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89f2df62111e428f" Type="http://schemas.openxmlformats.org/officeDocument/2006/relationships/notesSlide" Target="../notesSlides/notesSlide3.xml"/><Relationship Id="R9f6f99ce58384a3c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153fbe7c207a4832" Type="http://schemas.openxmlformats.org/officeDocument/2006/relationships/notesSlide" Target="../notesSlides/notesSlide4.xml"/><Relationship Id="Re84d9f28e3bc4a18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838effacc62d4a0b" Type="http://schemas.openxmlformats.org/officeDocument/2006/relationships/slideLayout" Target="../slideLayouts/slideLayout6.xml"/><Relationship Id="R97731262d9814e7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94f9c2748a204993" Type="http://schemas.openxmlformats.org/officeDocument/2006/relationships/notesSlide" Target="../notesSlides/notesSlide6.xml"/><Relationship Id="Rcf432fbb4c054488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0c46e0af67044b3b" Type="http://schemas.openxmlformats.org/officeDocument/2006/relationships/slideLayout" Target="../slideLayouts/slideLayout6.xml"/><Relationship Id="R1167fb0cf4e8460b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1900821e4fa42ed" Type="http://schemas.openxmlformats.org/officeDocument/2006/relationships/image" Target="../media/image.png"/><Relationship Id="R67c795a79a4a47b9" Type="http://schemas.openxmlformats.org/officeDocument/2006/relationships/image" Target="../media/image2.png"/><Relationship Id="Ra5abc471c6da44cb" Type="http://schemas.openxmlformats.org/officeDocument/2006/relationships/notesSlide" Target="../notesSlides/notesSlide8.xml"/><Relationship Id="Rb21126fc42984a49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9053f9e63ffe4f41" Type="http://schemas.openxmlformats.org/officeDocument/2006/relationships/slideLayout" Target="../slideLayouts/slideLayout6.xml"/><Relationship Id="Re8fabe97397c448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22b0553411d4adf" Type="http://schemas.openxmlformats.org/officeDocument/2006/relationships/slideLayout" Target="../slideLayouts/slideLayout6.xml"/><Relationship Id="R5ea08dbf89c6487d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93B8CD-A379-4532-8269-014C5AE9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CF027-B738-4D8D-B347-1139F544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262B0-40DE-42DE-8CE1-E280365D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E0886-E41C-41D8-9C04-58A55278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2FB5D-18C7-45F6-AADD-F33D50A3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1FE2E-8446-4860-84E9-EE2BBDE1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EC98D-9B04-40C9-94B3-BBAEC22D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6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62EE9-5FBA-43CD-82B1-8C6A35B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SAN MARCOS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F8F35-33EB-4A79-A423-527FDAC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web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veterinario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4570D-702A-4ECA-96BE-665CE93B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D1D74-A2CA-42CC-B369-1312C8A5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C28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C28E"/>
                </a:solidFill>
                <a:latin typeface="Arial"/>
                <a:ea typeface="Arial"/>
                <a:cs typeface="Arial"/>
              </a:rPr>
              <a:t>Evaluación Parcial N.º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E80CB-C9CD-4D74-B719-B4B05A0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AF8F2"/>
                </a:solidFill>
                <a:latin typeface="Arial"/>
                <a:ea typeface="Arial"/>
                <a:cs typeface="Arial"/>
              </a:rPr>
              <a:t>DSY1104 · Desarrollo Fullstack II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77CDE-E597-4A91-8FBF-1290A1EA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3E2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3E2DC"/>
                </a:solidFill>
                <a:latin typeface="Arial"/>
                <a:ea typeface="Arial"/>
                <a:cs typeface="Arial"/>
              </a:rPr>
              <a:t>Presentación técnica del código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28E4A-CA76-4B18-A29B-C217FB9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429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Vet-Site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FD503-2444-44A9-B781-F3DFA6BB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90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Cómo está construido y cómo funciona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6B249-33FE-4869-A26D-EF783B85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42887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9F503-44FF-4D46-99AE-42CAD53E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TIENDA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B4D6E-61F1-4736-ABF6-973FA776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53269-AE52-4879-9115-9E1A64EE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05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Búsqueda · carrito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E3BAB-4C2D-41CB-A9CB-2418613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242887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6E656-8407-470D-93D2-C405BB1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PANEL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77B33-05BB-449F-A436-C9159859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3E36C-9706-48E8-8110-76B2854C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Productos · usuarios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544BE-9CDE-41D9-AD48-198D4CA5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CF59A-284E-4A02-8C71-8044240C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14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C56BD-5443-4D65-853D-7D2C2A67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6195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1EDE3"/>
          </a:solidFill>
          <a:ln xmlns:a="http://schemas.openxmlformats.org/drawingml/2006/main" w="9525">
            <a:solidFill>
              <a:srgbClr val="E5DA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65E86-B482-4282-882A-FB238364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910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React + Bootstrap + JavaScript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8DE1D-8C59-4B7E-B219-0170C15B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720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Persistencia local · sin pagos reales</a:t>
            </a:r>
          </a:p>
        </p:txBody>
      </p:sp>
    </p:spTree>
    <p:extLst>
      <p:ext uri="{BB962C8B-B14F-4D97-AF65-F5344CB8AC3E}">
        <p14:creationId xmlns:p14="http://schemas.microsoft.com/office/powerpoint/2010/main" val="797353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9D02D-D435-48B4-A136-9FDDF6CD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02  / 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93C7E-F28B-4F3E-A5D0-D0A73E56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Estructura del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975F3-A430-4821-B50D-1DC8BF64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C087D-DFF8-461F-B938-E4158A87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95325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A80C3-C37C-4FE2-9A1A-F7B9B99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610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MAPA REAL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C8DE7-AD08-455E-98E8-266C09B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66103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src/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├─ App.jsx                 estado, rutas y persistencia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├─ components/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│  ├─ ProductCatalog.jsx   búsqueda y filtros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│  ├─ ProductCard.jsx      tarjeta y callback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│  ├─ CartPanel.jsx        cantidades y total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│  ├─ AuthForms.jsx        acceso, registro, contacto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│  └─ AdminPanel.jsx       productos, usuarios, órdenes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├─ utils/                  carrito, validación y órdenes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└─ data/products.js        datos iniciales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test/unit.spec.jsx         pruebas Jasmine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karma.conf.cjs             configuración de pruebas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71C7F-F187-40E1-9469-981E34D1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6"/>
          </a:bodyPr>
          <a:lstStyle xmlns:a="http://schemas.openxmlformats.org/drawingml/2006/main">
            <a:def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Separación por responsabilidad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120AB-58E2-48F5-AAD5-97992BD5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DDFF1-83DA-407A-817C-E74D1AB0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React presenta y coordina la interfaz.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6D8E9-CA15-4EB7-B095-428D1DFA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43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479A4-2A30-471C-8E4A-B701AFBE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34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utils concentra reglas que se reutilizan.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829C1-CD55-4F64-B473-47E751E4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223D5-40AC-4829-A422-C14B03A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671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Jasmine/Karma revisan funciones y componentes.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D5AFE-2B06-4239-B427-45D4F4D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DB907-7DC3-4E75-AE57-166BB6F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482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Tecnologías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51297-B95F-4333-BF1C-8EFF5774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149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React · Vite · Bootstrap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E39C7-BF4F-49D6-928D-24A2019E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C14BE-5FA5-4685-AD1E-EF8AA8B4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1DA0C-D972-47DD-A321-58512AD2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500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3A933-9561-4912-B101-6545D37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03  /  APP.JSX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A624E-C2C6-49DF-A71D-A3342EE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Estado y persistencia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67FE5-1A9A-4048-AABA-6B3D882E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05742-9907-4AF4-A6C0-2412B0E4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6667500" cy="3667125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610B8-1608-4EA0-82B5-DE0435F2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6324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ESTADO DE CARRITO EN App.jsx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E429A-14DF-4A69-A0B8-BBDAC4E7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6324600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const [cart, setCartState] = useState(</a:t>
            </a:r>
          </a:p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() =&gt; load(keys.cart, [])</a:t>
            </a:r>
          </a:p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useEffect(() =&gt; {</a:t>
            </a:r>
          </a:p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localStorage.setItem(</a:t>
            </a:r>
          </a:p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keys.cart, JSON.stringify(cart)</a:t>
            </a:r>
          </a:p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);</a:t>
            </a:r>
          </a:p>
          <a:p xmlns:a="http://schemas.openxmlformats.org/drawingml/2006/main">
            <a:pPr algn="l">
              <a:defRPr sz="16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}, [cart]);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607A7-96C0-4EBC-B041-93F204C5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¿Qué demuestra?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9BF5B-4983-4C4E-ACB4-815CE41B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ABEC4-873F-4C96-A616-91A4932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907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useState inicializa desde el navegador.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98358-A678-4540-ADE5-8C9D35C4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1188E-9B68-4398-83E6-74B1B6A9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384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useEffect guarda al cambiar el carrito.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FFB16-4A76-4F9E-9AE6-1D04DC7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7A191-28E0-4085-A684-54AF3735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861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92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JSON convierte los datos para almacenarlos.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6AEDC-84DC-4635-B554-3C181EBD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3337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1EDE3"/>
          </a:solidFill>
          <a:ln xmlns:a="http://schemas.openxmlformats.org/drawingml/2006/main" w="9525">
            <a:solidFill>
              <a:srgbClr val="E5DA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59DF7-2A0D-40F8-8F83-B102479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Persistencia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782BA-4E04-4F7E-9BE5-6712851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72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Mismo origen y navegador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E49CE-C310-4479-BF50-6D975C25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App.jsx aplica el mismo patrón a productos, usuarios, órdenes y sesión.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4984D-716F-40C0-AEE9-B4672E5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BD9F8-0B86-4761-A8C0-E1C305E7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DAF78-405E-4D32-AAAA-7609BC8C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6974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C897F-D356-4A3A-9F4A-5926EE5E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04  /  PRODUCTCATALOG.JSX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27DBB-2858-45FE-92E1-537C8E7E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Props, estado local y filtros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22CCB-F398-48AE-9424-E8AE38D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308F3-BF8B-4E9A-97BA-51721345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6953250" cy="3381375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49EE9-B508-48AD-84BE-7FEC1F1E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6610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BÚSQUEDA Y FILTRO (RESUMEN DEL COMPONENTE)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45D32-A95B-4BBC-B2E4-1BA3B2F6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6610350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const [query, setQuery] = useState('');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const visible = products.filter((product) =&gt;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(category === 'Todas' ||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product.category === category) &amp;&amp;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`${product.name} ${product.description} ${product.category}`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.toLowerCase()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.includes(query.toLowerCase())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AA35D-FB85-4278-AACC-7C501C5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90675"/>
            <a:ext cx="3333750" cy="33813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86021-760F-40F2-9B65-D20DC4D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Lo que recibe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BAFB1-7B14-4531-A475-92BD41D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7647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products</a:t>
            </a:r>
          </a:p>
          <a:p xmlns:a="http://schemas.openxmlformats.org/drawingml/2006/main">
            <a:pPr algn="l">
              <a:defRPr sz="20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onAdd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0E3E5-1407-49BD-905C-7CEFC0D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274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0D9F4-EB7C-46B5-98B1-929C67AC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Lo que administra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77469-5BD8-4B06-8806-AC9F6B65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query</a:t>
            </a:r>
          </a:p>
          <a:p xmlns:a="http://schemas.openxmlformats.org/drawingml/2006/main">
            <a:pPr algn="l">
              <a:defRPr sz="17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26B98-BB22-43F3-B500-4CD55C4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ProductCard recibe el producto y la función para añadirlo.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3B16F-0BC2-4B8D-9B0D-C418434B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09728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4BFED-8223-4F50-AFC7-508D77D1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629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COMPOSICIÓN CON PROPS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72BE1-D0E3-4AC8-A3A6-E9E2326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&lt;ProductCard product={product} onAdd={onAdd} /&gt;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C5641-7408-4F02-8CA1-A31B8A62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C18E4-41FF-4572-8A8A-D9B13849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B25C6-A246-4033-8B79-4EC8E3C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6816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356F2-14CF-4AB0-8A6E-6775F18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05  /  UTILS/VALIDATION.JS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C5715-EF25-4026-825C-51979244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Reglas de negocio en JavaScript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CB033-1FA6-47E2-AD81-643AADDE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F0D52-AEA5-47FC-B88F-C564FFE1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70485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44525-AF3F-4D4C-82EC-10D214EB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70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CÓDIGO REAL · VALIDACIÓN DE CORREO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23446-BB4B-4C45-8C92-DBABD211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67056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export const allowedDomains = [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'@duoc.cl',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'@profesor.duoc.cl',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'@gmail.com'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export function isAllowedEmail(email = '') {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const normalized = email.trim().toLowerCase();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return /^[^\s@]+@[^\s@]+\.[^\s@]+$/.test(normalized)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&amp;&amp; allowedDomains.some((domain) =&gt;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normalized.endsWith(domain)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);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5EE81-80EE-4222-BBD1-0DDB3E0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Otras reglas implementadas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9E4DB-CA6A-4BE4-B1BE-83D666B1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7A38A-E2AC-4ED4-BCE1-9F573F9F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RUN: cálculo del dígito verificador.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A7390-77C6-4CF2-9751-B438AA2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57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7CAD2-FA9B-47CD-AFB9-BEA4871A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813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Contraseña: entre 4 y 10 caracteres.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CC024-59AD-4E1E-A54F-A5F3EF4C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BEC87-3B9D-4024-8F4C-966CA9CE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814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>
            <a:def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Producto: código único, precio y stock válidos.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FAB82-C712-4360-AB52-5C70E57D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3286125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C5B42-65F8-4A69-8A8A-7E6757A4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00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Regla ejecutable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ED33A-7560-4DE3-AC22-39C1DEC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05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Función pura → prueba unitaria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A4687-6072-4847-A351-111BC44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C48DE-7D4D-4B14-8041-E680C45F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A9C05-AF0D-4850-A42C-87CAD9DF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5795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1564D-8E6E-4FE3-8E85-EE0444A0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06  /  UTILS/CART.JS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C2B58-993F-4817-B577-73C6ADA6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Carrito y control de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AF948-3269-4741-9E2F-646E3F2D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68298-B4C1-452F-B19C-0B50F97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334250" cy="414337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534D6-8D6C-47D9-B058-C876DE3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6991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FUNCIÓN addItem()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D08EC-C8B5-4945-87C2-9229C7A0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6991350" cy="3590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const found = cart.find(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(item) =&gt; item.id === product.id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if (found) {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if (found.quantity &gt;= availableStock)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return cart;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return cart.map((item) =&gt;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item.id === product.id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? { ...item, quantity: item.quantity + 1 }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: item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);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return [...cart, { id: product.id, quantity: 1 }];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D9471-C8BD-47E9-9ABF-F6F9DBEC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Secuencia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E769D-BB79-4882-BE7F-5B2D16FB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AA44D-722D-4484-A9B1-B5B24678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860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5C64B-7B29-4AD5-A885-E19BB5AE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Buscar el producto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99FA9-17EB-4C8D-AEF7-1B8A1A27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309B4-8DBB-471D-AEFF-D270830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52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1363F-72C8-4452-84E1-422393FF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Comparar con stock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2A057-F512-4BEB-8421-4CFB4319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55D6F-F78B-4D8F-ADE1-2C2700DE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9D073-7370-466E-9668-204F34F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Actualizar o insertar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586E5-D05B-4DA1-B04A-1FFAA1EB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AAC6F-BAF6-4AA8-ABD0-8CE9BF16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862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5D0D2-779A-4702-8387-B49BBB2B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196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Recalcular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25AEF-33F5-462E-9E54-99220708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48275"/>
            <a:ext cx="3143250" cy="581025"/>
          </a:xfrm>
          <a:prstGeom xmlns:a="http://schemas.openxmlformats.org/drawingml/2006/main" prst="roundRect">
            <a:avLst>
              <a:gd name="adj" fmla="val 29508"/>
            </a:avLst>
          </a:prstGeom>
          <a:solidFill xmlns:a="http://schemas.openxmlformats.org/drawingml/2006/main">
            <a:srgbClr val="183B36"/>
          </a:solidFill>
          <a:ln xmlns:a="http://schemas.openxmlformats.org/drawingml/2006/main" w="9525">
            <a:solidFill>
              <a:srgbClr val="183B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CF375-A08C-472D-AFDC-5584BA60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102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carrito nunca supera el stock.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E0A44-CF2E-47FF-9D13-6A337F66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B9219-C0E0-441F-BEB3-D812960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8D2C0-D894-4EF2-B00F-D444E994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6847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83A0A4-C62F-41A4-AF9F-FDE6A5C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07  /  BOOTSTRAP + STYLES.CSS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34A7C-7A3A-417B-B28C-C0A2FEA6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Maquetación responsiva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8C321-A76C-4B65-9115-BECF830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761A3-C57F-4975-8CC9-BD773E6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2B7F6-73F0-41BD-A197-B49BD5F1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651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GRILLA DEL CATÁLOGO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174FD-65A2-4A3B-B9DE-68BB225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65151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&lt;div className="row g-4"&gt;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{visible.map((product) =&gt; (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&lt;div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className="col-12 col-sm-6 col-lg-4"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key={product.id}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&gt;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&lt;ProductCard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  product={product}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  onAdd={onAdd}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  /&gt;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  &lt;/div&gt;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))}</a:t>
            </a:r>
          </a:p>
          <a:p xmlns:a="http://schemas.openxmlformats.org/drawingml/2006/main">
            <a:pPr algn="l">
              <a:defRPr sz="1350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F638A-3E98-47FC-97B2-49BE9A9B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Columnas por ancho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27890-C273-4840-9A09-45F1198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990600" cy="1457325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C687A-708D-4B24-87AE-EEEBA0B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479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Móvil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908CC-3F13-4913-91E0-4E7036CB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762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CC8AE-934C-470A-BFF3-913C004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956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1 tarjeta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BFCB6-9761-4849-9A42-2CCEEB87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14575"/>
            <a:ext cx="990600" cy="1457325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2B5B5-2CAA-47BC-BD56-7E688134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479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5BF06-55A4-4C1B-BB48-31FBE0E2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00350"/>
            <a:ext cx="357188" cy="5905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47A0A-3BA8-46EA-88DD-2BF57660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800350"/>
            <a:ext cx="357188" cy="5905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BDF7C-D985-4036-A630-B9EC2028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956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2 tarjetas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02B6A-C0C3-4DF0-8F5D-91F6EF48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14575"/>
            <a:ext cx="990600" cy="1457325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08E69-E3A7-4F80-8BBA-C24CBD9E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4479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Escritorio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CF85E-D1B9-4DC1-AE89-ACB961A9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222250" cy="5905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C8652-2E4B-498A-B63C-62F12E1C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275" y="2800350"/>
            <a:ext cx="222250" cy="5905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AFFD6-9A68-4DDA-AF13-B9D7DB36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2800350"/>
            <a:ext cx="222250" cy="5905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959C1-D01E-4E3F-9A9B-66E910E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4956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3 tarjetas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85567E-C0AD-432C-A564-F5C812DF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FE1C0-7EDC-4CC5-8E90-AADDF47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29100"/>
            <a:ext cx="2990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AJUSTE CSS PARA MÓVIL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54A91-8B57-485A-A436-12AB660F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33900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03"/>
          </a:bodyPr>
          <a:lstStyle xmlns:a="http://schemas.openxmlformats.org/drawingml/2006/main">
            <a:def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@media (max-width: 575px) {</a:t>
            </a:r>
          </a:p>
          <a:p xmlns:a="http://schemas.openxmlformats.org/drawingml/2006/main">
            <a: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.hero-illustration { display: none; }</a:t>
            </a:r>
          </a:p>
          <a:p xmlns:a="http://schemas.openxmlformats.org/drawingml/2006/main">
            <a: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.cart-panel { padding: 18px; }</a:t>
            </a:r>
          </a:p>
          <a:p xmlns:a="http://schemas.openxmlformats.org/drawingml/2006/main">
            <a:pPr algn="l">
              <a:defRPr sz="11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BC087-DB28-4803-A20E-8A741789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Las clases Bootstrap fijan los breakpoints de la grilla.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B173C-6D63-42C2-B426-D71719B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690DA-1625-45F1-A7D7-683DDDB4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E6AFB-D884-453A-882A-E6378BFB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4393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BA64D-57F9-4CAE-AF6F-C3E396F2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08  /  ADMINPANEL.JSX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73405-C152-451A-B38E-31DB4794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Guardar un 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C1EAD-C88B-44D8-9F33-72C0481D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30DA2-4049-41F0-9C20-59BC5AB2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El formulario valida y decide entre actualizar un producto o agregar uno nuevo.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501A3-94EF-45D6-BF01-980684A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286375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DCBF8-FFF3-42AD-AC5D-9BB32BC87C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00821e4fa42ed"/>
          <a:stretch xmlns:a="http://schemas.openxmlformats.org/drawingml/2006/main"/>
        </p:blipFill>
        <p:spPr>
          <a:xfrm xmlns:a="http://schemas.openxmlformats.org/drawingml/2006/main">
            <a:off x="814619" y="2019300"/>
            <a:ext cx="4762037" cy="2076450"/>
          </a:xfrm>
          <a:prstGeom xmlns:a="http://schemas.openxmlformats.org/drawingml/2006/main" prst="roundRect">
            <a:avLst>
              <a:gd name="adj" fmla="val 367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91AE5-E965-48E5-9EA8-6ECF6B5B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5286375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CBB04-284D-490C-9B10-F39EB87582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795a79a4a47b9"/>
          <a:stretch xmlns:a="http://schemas.openxmlformats.org/drawingml/2006/main"/>
        </p:blipFill>
        <p:spPr>
          <a:xfrm xmlns:a="http://schemas.openxmlformats.org/drawingml/2006/main">
            <a:off x="6835410" y="2019300"/>
            <a:ext cx="4093304" cy="2076450"/>
          </a:xfrm>
          <a:prstGeom xmlns:a="http://schemas.openxmlformats.org/drawingml/2006/main" prst="roundRect">
            <a:avLst>
              <a:gd name="adj" fmla="val 367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DEB5F-DFA0-49DD-94E1-7162E673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Formulario Nuevo producto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97585-D042-487D-BF10-FD323175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Resultado: ALI-003 en la tabla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B7093-05EC-4654-BE74-8C055908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10972800" cy="1209675"/>
          </a:xfrm>
          <a:prstGeom xmlns:a="http://schemas.openxmlformats.org/drawingml/2006/main" prst="roundRect">
            <a:avLst>
              <a:gd name="adj" fmla="val 14173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BA7A9-08BC-44D2-8868-057D5C72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629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DISTINCIÓN ENTRE EDICIÓN Y CREACIÓN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143AA-3D65-480A-88D7-C647DFBE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10629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setProducts((previous) =&gt; editing?.id</a:t>
            </a:r>
          </a:p>
          <a:p xmlns:a="http://schemas.openxmlformats.org/drawingml/2006/main">
            <a: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? previous.map((item) =&gt; item.id === product.id ? product : item)</a:t>
            </a:r>
          </a:p>
          <a:p xmlns:a="http://schemas.openxmlformats.org/drawingml/2006/main">
            <a:pPr algn="l">
              <a:defRPr sz="142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: [...previous, product]);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720E6-819A-45FF-8285-21EDFA53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8934A-722B-4EDF-9E45-4A67ED21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6D323-0E75-4CAB-941D-B4BC53C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05142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BE7D2-16E5-45CD-8685-992DFF20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09  /  TEST/UNIT.SPEC.JSX · KARMA.CONF.CJS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63E82-D2BC-4D95-86C3-67EB0511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Pruebas Jasmine y Karma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B100D-2FD3-43CC-9FE0-30AB3C1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5AC66-6EA4-4B31-8169-B88A077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6858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A27"/>
          </a:solidFill>
          <a:ln xmlns:a="http://schemas.openxmlformats.org/drawingml/2006/main" w="9525">
            <a:solidFill>
              <a:srgbClr val="102A2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0B3E0-A5D1-4CAA-BA75-2F99B71E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651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PRUEBA DEL CALLBACK DE PRODUCTCARD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78A9C-E800-4C3C-A69D-79AAFDF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65151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const onAdd = jasmine.createSpy('onAdd');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act(() =&gt; root.render(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&lt;ProductCard product={product} onAdd={onAdd} /&gt;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act(() =&gt; container.querySelector('button').dispatchEvent(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  new MouseEvent('click', { bubbles: true })</a:t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4E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4EF"/>
                </a:solidFill>
                <a:latin typeface="Consolas"/>
                <a:ea typeface="Consolas"/>
                <a:cs typeface="Consolas"/>
              </a:rPr>
              <a:t>expect(onAdd).toHaveBeenCalledOnceWith(product);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CE40-C3F7-49D7-AA4D-73F9A538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965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6535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777F8-BB6E-41D1-A2F3-EE83D519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76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A158E-D2C5-4A2F-9402-5A5C84BB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02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Karma coordina la ejecución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A1297-B960-4855-98DA-37A81E4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53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87FFD-04B0-4979-9122-B255498E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jsdom simula el DOM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E108A-A8A6-4B43-BA35-5D8EFA8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9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9EA43-9DA1-46BF-A9F7-9C98A253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337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Jasmine define specs y spies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57AA5-F0DA-4A5D-A8B7-383A6780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53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9AE62-6053-411B-B7A6-899A82EF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Istanbul genera cobertura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D4EE5-9890-4150-98BF-D5520979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4D1E7-6333-41A8-98E3-B121DE5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5B285-7E0E-4D5F-9F1D-F259C797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specs registradas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8F5EF-4DC1-4674-8E5F-BD7F45C8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84,50 %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B16F4-7CB9-4E0A-B028-50887F23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81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statements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D2E78-4F52-43DE-9397-034A85D0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90,64 %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D0175-C70B-4AB5-B3FB-0563A8F8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81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6F79C-0ED7-4FDF-9CA3-C03283E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3429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6E8D9"/>
          </a:solidFill>
          <a:ln xmlns:a="http://schemas.openxmlformats.org/drawingml/2006/main" w="9525">
            <a:solidFill>
              <a:srgbClr val="E7D0B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99098-5D15-451F-8F27-DB6D661A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8637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Alta en AdminPanel probada.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110E0-82A1-4ABE-A9D5-C4338C69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4A395-BA87-477D-836C-925814F2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70"/>
                </a:solidFill>
                <a:latin typeface="Arial"/>
                <a:ea typeface="Arial"/>
                <a:cs typeface="Arial"/>
              </a:rPr>
              <a:t>Vet-Site · DSY1104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A3BE9-4CB0-4A05-9B56-417CFCAA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2463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63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5019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3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3FF94-31DD-4F1C-A205-CB2BC443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10  /  EXPOSICIÓN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6ABF0-F729-4D91-B96A-B203A260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Mostrar el flujo en el navegador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D03DA-8222-4CDF-AF96-BCB49064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A8396-D2FA-4F92-AFD1-8B140272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Demostración sugerida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FC60C-B06C-4F84-8674-96D21052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E92C4-0E71-4047-BF1F-4C225C5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F993D-67C6-4E5F-8C3F-65C220B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574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Entrar al panel como Administrador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DCCDE-0848-4FC6-ABCA-29459B4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9760E-3A4D-4F4C-98A3-8EE5808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098AE-9210-4D4A-B86A-56BDDC7E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956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Crear un producto con código único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A4CFE-D019-492A-9508-24F981C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3BDBD-0E5C-4EE8-947F-942C9DFF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82D21-8FF9-4857-BE8F-249E115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5337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Ir a Tienda y buscarlo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09FEA-A991-44B1-B882-133E578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E7BFB-0E99-4A33-9E40-216B3BE4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14A73-E26F-408D-A528-4449E838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71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Añadirlo al carrito y revisar stock/total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C5929-62A5-465F-84E8-16C62CC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190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1DD46-8D64-41BD-8C07-7CD327F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Límites de esta versión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DC29E-B189-4DEF-B5C7-B27819B6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ABED0-1FE6-45F4-9AAE-D931334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backend ni base de datos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C9419-2E38-41E7-9F12-AA04F7AC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2232A-36EB-409F-9BDC-093EC354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localStorage solo en este navegador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69C39-B7E7-49EB-A886-EC04214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AA774-DC09-47AF-94DA-ED726C3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pagos reales ni envío de contacto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F3891-812B-4155-8769-F244D766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Gracias · Preguntas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AE113-9CE6-4482-98D1-7458B024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DE0D7"/>
                </a:solidFill>
                <a:latin typeface="Arial"/>
                <a:ea typeface="Arial"/>
                <a:cs typeface="Arial"/>
              </a:rPr>
              <a:t>Si el sitio no está abierto, usar las capturas de la diapositiva 8.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5F406-60A8-46C9-81F0-586CAA54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CB7D5-8083-42E7-BAFF-F92C68C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CDE0D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DE0D7"/>
                </a:solidFill>
                <a:latin typeface="Arial"/>
                <a:ea typeface="Arial"/>
                <a:cs typeface="Arial"/>
              </a:rPr>
              <a:t>Vet-Site · DSY1104 · React, JavaScript, Bootstrap y pruebas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D4B30-1E3D-4EA4-B52F-D54F7373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E7A0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A05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8357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2026-10-19T08:05:40.8170000Z</dcterms:created>
  <dcterms:modified xsi:type="dcterms:W3CDTF">2026-10-19T08:05:40.8170000Z</dcterms:modified>
</coreProperties>
</file>